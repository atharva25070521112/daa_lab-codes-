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atermark"/>
          <p:cNvSpPr txBox="1"/>
          <p:nvPr/>
        </p:nvSpPr>
        <p:spPr>
          <a:xfrm>
            <a:off x="6126480" y="480060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8A9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Made with Claude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8016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Sort</a:t>
            </a:r>
            <a:endParaRPr lang="en-US" sz="4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19456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9FD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Divide-and-Conquer Sorting Algorithm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93192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and Analysis of Algorithms  |  B.Tech CSE, SIT Nagpur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atermark"/>
          <p:cNvSpPr txBox="1"/>
          <p:nvPr/>
        </p:nvSpPr>
        <p:spPr>
          <a:xfrm>
            <a:off x="6126480" y="480060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8A9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Made with Claude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097280"/>
            <a:ext cx="822960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3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Invented by John von Neumann in 1945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3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 example of the divide-and-conquer paradigm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3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Sorts by recursively splitting the array, then merging sorted halves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3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Guaranteed O(n log n) running time in every case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3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 sort; needs O(n) extra space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atermark"/>
          <p:cNvSpPr txBox="1"/>
          <p:nvPr/>
        </p:nvSpPr>
        <p:spPr>
          <a:xfrm>
            <a:off x="6126480" y="480060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8A9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Made with Claude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Divide and Conquer Strategy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2651760" cy="3017520"/>
          </a:xfrm>
          <a:prstGeom prst="rect">
            <a:avLst/>
          </a:prstGeom>
          <a:solidFill>
            <a:srgbClr val="FFFFFF"/>
          </a:solidFill>
          <a:ln w="19050">
            <a:solidFill>
              <a:srgbClr val="02809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128016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28090"/>
                </a:solidFill>
              </a:rPr>
              <a:t>DIVIDE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920240"/>
            <a:ext cx="228600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33F50"/>
                </a:solidFill>
              </a:rPr>
              <a:t>Split the n-element array into two halves of about n/2 elements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291840" y="1188720"/>
            <a:ext cx="2651760" cy="3017520"/>
          </a:xfrm>
          <a:prstGeom prst="rect">
            <a:avLst/>
          </a:prstGeom>
          <a:solidFill>
            <a:srgbClr val="FFFFFF"/>
          </a:solidFill>
          <a:ln w="19050">
            <a:solidFill>
              <a:srgbClr val="02809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291840" y="128016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28090"/>
                </a:solidFill>
              </a:rPr>
              <a:t>CONQUER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3474720" y="1920240"/>
            <a:ext cx="228600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33F50"/>
                </a:solidFill>
              </a:rPr>
              <a:t>Recursively sort each half (base case: 1 element is already sorted)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126480" y="1188720"/>
            <a:ext cx="2651760" cy="3017520"/>
          </a:xfrm>
          <a:prstGeom prst="rect">
            <a:avLst/>
          </a:prstGeom>
          <a:solidFill>
            <a:srgbClr val="FFFFFF"/>
          </a:solidFill>
          <a:ln w="19050">
            <a:solidFill>
              <a:srgbClr val="02809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126480" y="128016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28090"/>
                </a:solidFill>
              </a:rPr>
              <a:t>COMBINE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6309360" y="1920240"/>
            <a:ext cx="228600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33F50"/>
                </a:solidFill>
              </a:rPr>
              <a:t>Merge the two sorted halves into one sorted array in O(n)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atermark"/>
          <p:cNvSpPr txBox="1"/>
          <p:nvPr/>
        </p:nvSpPr>
        <p:spPr>
          <a:xfrm>
            <a:off x="6126480" y="480060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8A9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Made with Claude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 (Pseudocode)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365760" y="1051560"/>
            <a:ext cx="4023360" cy="3566160"/>
          </a:xfrm>
          <a:prstGeom prst="rect">
            <a:avLst/>
          </a:prstGeom>
          <a:solidFill>
            <a:srgbClr val="1B2333"/>
          </a:solidFill>
          <a:ln/>
        </p:spPr>
        <p:txBody>
          <a:bodyPr wrap="square" lIns="127000" tIns="127000" rIns="127000" bIns="12700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MERGE-SORT(A, p, r)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p &lt; 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q = floor((p + r) / 2)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MERGE-SORT(A, p, q)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MERGE-SORT(A, q+1, r)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MERGE(A, p, q, r)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4572000" y="1051560"/>
            <a:ext cx="4206240" cy="3566160"/>
          </a:xfrm>
          <a:prstGeom prst="rect">
            <a:avLst/>
          </a:prstGeom>
          <a:solidFill>
            <a:srgbClr val="1B2333"/>
          </a:solidFill>
          <a:ln/>
        </p:spPr>
        <p:txBody>
          <a:bodyPr wrap="square" lIns="127000" tIns="127000" rIns="127000" bIns="12700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MERGE(A, p, q, r)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 = A[p..q],  R = A[q+1..r]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 = 0, j = 0, k = p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while i &lt; |L| and j &lt; |R|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L[i] &lt;= R[j]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A[k++] = L[i++]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else A[k++] = R[j++]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copy remaining of L or 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into A[k..r]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atermark"/>
          <p:cNvSpPr txBox="1"/>
          <p:nvPr/>
        </p:nvSpPr>
        <p:spPr>
          <a:xfrm>
            <a:off x="6126480" y="480060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8A9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Made with Claude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Example: [38, 27, 43, 3, 9, 82, 10]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365760" y="1051560"/>
            <a:ext cx="4206240" cy="3566160"/>
          </a:xfrm>
          <a:prstGeom prst="rect">
            <a:avLst/>
          </a:prstGeom>
          <a:solidFill>
            <a:srgbClr val="1B2333"/>
          </a:solidFill>
          <a:ln/>
        </p:spPr>
        <p:txBody>
          <a:bodyPr wrap="square" lIns="127000" tIns="127000" rIns="127000" bIns="12700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DIVIDE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[38 27 43 3 9 82 10]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[38 27 43 3] [9 82 10]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[38 27] [43 3] [9 82] [10]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[38] [27] [43] [3] [9] [82] [10]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4754880" y="1051560"/>
            <a:ext cx="4023360" cy="3566160"/>
          </a:xfrm>
          <a:prstGeom prst="rect">
            <a:avLst/>
          </a:prstGeom>
          <a:solidFill>
            <a:srgbClr val="1B2333"/>
          </a:solidFill>
          <a:ln/>
        </p:spPr>
        <p:txBody>
          <a:bodyPr wrap="square" lIns="127000" tIns="127000" rIns="127000" bIns="12700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MERGE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[27 38] [3 43] [9 82] [10]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[3 27 38 43] [9 10 82]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[3 9 10 27 38 43 82]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Each level does O(n) merge work.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atermark"/>
          <p:cNvSpPr txBox="1"/>
          <p:nvPr/>
        </p:nvSpPr>
        <p:spPr>
          <a:xfrm>
            <a:off x="6126480" y="480060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8A9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Made with Claude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Complexity Analysis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097280"/>
            <a:ext cx="822960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3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Recurrence:  T(n) = 2T(n/2) + Theta(n),  T(1) = Theta(1)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3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theorem: a=2, b=2, f(n)=n = Theta(n^(log2 2)), so Case 2 gives T(n) = Theta(n log n)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3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Recursion tree: log2(n)+1 levels, each costing cn in total, so cn(log n + 1)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3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Divide step: O(1); Merge step: O(n) comparisons at most n-1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atermark"/>
          <p:cNvSpPr txBox="1"/>
          <p:nvPr/>
        </p:nvSpPr>
        <p:spPr>
          <a:xfrm>
            <a:off x="6126480" y="480060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8A9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Made with Claude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Complexity Summary</a:t>
            </a:r>
            <a:endParaRPr lang="en-US" sz="26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645920"/>
                <a:gridCol w="512064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Case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Time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Reason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333F50"/>
                          </a:solidFill>
                        </a:rPr>
                        <a:t>Best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333F50"/>
                          </a:solidFill>
                        </a:rPr>
                        <a:t>O(n log n)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333F50"/>
                          </a:solidFill>
                        </a:rPr>
                        <a:t>Always splits and merges (about n/2 comparisons)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333F50"/>
                          </a:solidFill>
                        </a:rPr>
                        <a:t>Average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333F50"/>
                          </a:solidFill>
                        </a:rPr>
                        <a:t>O(n log n)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333F50"/>
                          </a:solidFill>
                        </a:rPr>
                        <a:t>Same recursion regardless of input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333F50"/>
                          </a:solidFill>
                        </a:rPr>
                        <a:t>Worst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333F50"/>
                          </a:solidFill>
                        </a:rPr>
                        <a:t>O(n log n)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333F50"/>
                          </a:solidFill>
                        </a:rPr>
                        <a:t>At most n-1 comparisons per merge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333F50"/>
                          </a:solidFill>
                        </a:rPr>
                        <a:t>Space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333F50"/>
                          </a:solidFill>
                        </a:rPr>
                        <a:t>O(n)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333F50"/>
                          </a:solidFill>
                        </a:rPr>
                        <a:t>Auxiliary array for merging, plus O(log n) stack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atermark"/>
          <p:cNvSpPr txBox="1"/>
          <p:nvPr/>
        </p:nvSpPr>
        <p:spPr>
          <a:xfrm>
            <a:off x="6126480" y="480060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8A9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Made with Claude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Properties of Merge Sort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097280"/>
            <a:ext cx="822960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3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Stable: equal elements keep their original order (use &lt;= in merge)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3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in-place: needs O(n) extra memory (array version)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3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adaptive: does the same work on sorted or reversed input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3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 suited to linked lists (O(1) extra space) and external sorting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3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Easily parallelized: the two halves are independent</a:t>
            </a:r>
            <a:endParaRPr lang="en-US" sz="1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atermark"/>
          <p:cNvSpPr txBox="1"/>
          <p:nvPr/>
        </p:nvSpPr>
        <p:spPr>
          <a:xfrm>
            <a:off x="6126480" y="480060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8A9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Made with Claude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 and Disadvantages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09728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28090"/>
                </a:solidFill>
              </a:rPr>
              <a:t>Advantages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645920"/>
            <a:ext cx="402336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3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Guaranteed O(n log n)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3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3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 for large data and linked lists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3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Parallel-friendly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4663440" y="109728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03A2E"/>
                </a:solidFill>
              </a:rPr>
              <a:t>Disadvantages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4663440" y="1645920"/>
            <a:ext cx="402336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3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 O(n) space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3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Slower than quick sort in practice for small arrays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3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Recursion overhead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3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not exploit sorted input</a:t>
            </a:r>
            <a:endParaRPr lang="en-US" sz="1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atermark"/>
          <p:cNvSpPr txBox="1"/>
          <p:nvPr/>
        </p:nvSpPr>
        <p:spPr>
          <a:xfrm>
            <a:off x="6126480" y="480060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8A9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Made with Claude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 with Other Sorts</a:t>
            </a:r>
            <a:endParaRPr lang="en-US" sz="26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371600"/>
                <a:gridCol w="1371600"/>
                <a:gridCol w="1371600"/>
                <a:gridCol w="1371600"/>
                <a:gridCol w="137160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Algorithm</a:t>
                      </a:r>
                      <a:endParaRPr lang="en-US" sz="15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Best</a:t>
                      </a:r>
                      <a:endParaRPr lang="en-US" sz="15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Average</a:t>
                      </a:r>
                      <a:endParaRPr lang="en-US" sz="15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Worst</a:t>
                      </a:r>
                      <a:endParaRPr lang="en-US" sz="15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Space</a:t>
                      </a:r>
                      <a:endParaRPr lang="en-US" sz="15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Stable</a:t>
                      </a:r>
                      <a:endParaRPr lang="en-US" sz="15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333F50"/>
                          </a:solidFill>
                        </a:rPr>
                        <a:t>Merge Sort</a:t>
                      </a:r>
                      <a:endParaRPr lang="en-US" sz="15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333F50"/>
                          </a:solidFill>
                        </a:rPr>
                        <a:t>n log n</a:t>
                      </a:r>
                      <a:endParaRPr lang="en-US" sz="15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333F50"/>
                          </a:solidFill>
                        </a:rPr>
                        <a:t>n log n</a:t>
                      </a:r>
                      <a:endParaRPr lang="en-US" sz="15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333F50"/>
                          </a:solidFill>
                        </a:rPr>
                        <a:t>n log n</a:t>
                      </a:r>
                      <a:endParaRPr lang="en-US" sz="15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333F50"/>
                          </a:solidFill>
                        </a:rPr>
                        <a:t>O(n)</a:t>
                      </a:r>
                      <a:endParaRPr lang="en-US" sz="15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333F50"/>
                          </a:solidFill>
                        </a:rPr>
                        <a:t>Yes</a:t>
                      </a:r>
                      <a:endParaRPr lang="en-US" sz="15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333F50"/>
                          </a:solidFill>
                        </a:rPr>
                        <a:t>Quick Sort</a:t>
                      </a:r>
                      <a:endParaRPr lang="en-US" sz="15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333F50"/>
                          </a:solidFill>
                        </a:rPr>
                        <a:t>n log n</a:t>
                      </a:r>
                      <a:endParaRPr lang="en-US" sz="15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333F50"/>
                          </a:solidFill>
                        </a:rPr>
                        <a:t>n log n</a:t>
                      </a:r>
                      <a:endParaRPr lang="en-US" sz="15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333F50"/>
                          </a:solidFill>
                        </a:rPr>
                        <a:t>n^2</a:t>
                      </a:r>
                      <a:endParaRPr lang="en-US" sz="15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333F50"/>
                          </a:solidFill>
                        </a:rPr>
                        <a:t>O(log n)</a:t>
                      </a:r>
                      <a:endParaRPr lang="en-US" sz="15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333F50"/>
                          </a:solidFill>
                        </a:rPr>
                        <a:t>No</a:t>
                      </a:r>
                      <a:endParaRPr lang="en-US" sz="15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333F50"/>
                          </a:solidFill>
                        </a:rPr>
                        <a:t>Heap Sort</a:t>
                      </a:r>
                      <a:endParaRPr lang="en-US" sz="15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333F50"/>
                          </a:solidFill>
                        </a:rPr>
                        <a:t>n log n</a:t>
                      </a:r>
                      <a:endParaRPr lang="en-US" sz="15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333F50"/>
                          </a:solidFill>
                        </a:rPr>
                        <a:t>n log n</a:t>
                      </a:r>
                      <a:endParaRPr lang="en-US" sz="15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333F50"/>
                          </a:solidFill>
                        </a:rPr>
                        <a:t>n log n</a:t>
                      </a:r>
                      <a:endParaRPr lang="en-US" sz="15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333F50"/>
                          </a:solidFill>
                        </a:rPr>
                        <a:t>O(1)</a:t>
                      </a:r>
                      <a:endParaRPr lang="en-US" sz="15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333F50"/>
                          </a:solidFill>
                        </a:rPr>
                        <a:t>No</a:t>
                      </a:r>
                      <a:endParaRPr lang="en-US" sz="15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333F50"/>
                          </a:solidFill>
                        </a:rPr>
                        <a:t>Insertion Sort</a:t>
                      </a:r>
                      <a:endParaRPr lang="en-US" sz="15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333F50"/>
                          </a:solidFill>
                        </a:rPr>
                        <a:t>n</a:t>
                      </a:r>
                      <a:endParaRPr lang="en-US" sz="15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333F50"/>
                          </a:solidFill>
                        </a:rPr>
                        <a:t>n^2</a:t>
                      </a:r>
                      <a:endParaRPr lang="en-US" sz="15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333F50"/>
                          </a:solidFill>
                        </a:rPr>
                        <a:t>n^2</a:t>
                      </a:r>
                      <a:endParaRPr lang="en-US" sz="15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333F50"/>
                          </a:solidFill>
                        </a:rPr>
                        <a:t>O(1)</a:t>
                      </a:r>
                      <a:endParaRPr lang="en-US" sz="15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333F50"/>
                          </a:solidFill>
                        </a:rPr>
                        <a:t>Yes</a:t>
                      </a:r>
                      <a:endParaRPr lang="en-US" sz="15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atermark"/>
          <p:cNvSpPr txBox="1"/>
          <p:nvPr/>
        </p:nvSpPr>
        <p:spPr>
          <a:xfrm>
            <a:off x="6126480" y="480060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8A9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Made with Claude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097280"/>
            <a:ext cx="822960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3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sorting of data too large for memory (databases, big files)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3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Sorting linked lists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3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Counting inversions in an array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3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stable sort in libraries (Java object sort, Python Timsort is merge-based)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3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Merging sorted streams, e.g. in MapReduce pipelines</a:t>
            </a:r>
            <a:endParaRPr lang="en-US" sz="1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atermark"/>
          <p:cNvSpPr txBox="1"/>
          <p:nvPr/>
        </p:nvSpPr>
        <p:spPr>
          <a:xfrm>
            <a:off x="6126480" y="480060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8A9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Made with Claude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097280"/>
            <a:ext cx="822960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3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Divide, conquer, combine: split, sort halves, merge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3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T(n) = 2T(n/2) + Theta(n) = Theta(n log n) in all cases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3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 and predictable, at the cost of O(n) extra space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3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Preferred when stability or worst-case guarantees matter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41148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28090"/>
                </a:solidFill>
              </a:rPr>
              <a:t>Thank you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Merge Sort - DAA</dc:title>
  <dc:subject>PptxGenJS Presentation</dc:subject>
  <dc:creator>PptxGenJS</dc:creator>
  <cp:lastModifiedBy>PptxGenJS</cp:lastModifiedBy>
  <cp:revision>1</cp:revision>
  <dcterms:created xsi:type="dcterms:W3CDTF">2026-10-19T12:43:29Z</dcterms:created>
  <dcterms:modified xsi:type="dcterms:W3CDTF">2026-10-19T12:43:29Z</dcterms:modified>
</cp:coreProperties>
</file>